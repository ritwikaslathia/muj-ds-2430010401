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Diabetic patients caught (recall,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Threshold 0.5</c:v>
                  </c:pt>
                  <c:pt idx="1">
                    <c:v>Threshold 0.28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52.5</c:v>
                </c:pt>
                <c:pt idx="1">
                  <c:v>80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then give the 30-second summary: predict diabetes from 8 measurements, compare 3 models, main finding is threshold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Screening matters because missing a sick patient is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was read as a header, so 767 of 768 patients are used. Mention this under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there is a validation set: to tune the threshold and stop training without touching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Dropout randomly switches off neurons while training; L2 penalises large weights. Both stop the model from memorizing.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are within about 3 points. With 116 test patients, one patient is about 0.9 percent, so small gaps are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medical screening, missing a sick patient is worse than a false alarm, so this trade-off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run-to-run variation. It shows you understand the limits of a small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limitations before sir finds them. The Transformer bug is a good debugging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link on screen: github.com/ritwikaslathia/MUJ-DS-2430010401.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Diabetes Prediction using Deep Learning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7432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Neural Networks vs Transformer on the PIMA Indians Dataset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Ritwika Slathia  |  Reg. No. 2430010401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B.Tech Computer Science (Data Science)  |  Batch 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Instructor: Sandeep  |  Manipal University Jaipur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and Objective</a:t>
            </a:r>
            <a:endParaRPr lang="en-US" sz="2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bar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problem</a:t>
            </a:r>
            <a:endParaRPr lang="en-US" sz="1900" dirty="0"/>
          </a:p>
        </p:txBody>
      </p:sp>
      <p:sp>
        <p:nvSpPr>
          <p:cNvPr id="6" name="Problem body"/>
          <p:cNvSpPr txBox="1"/>
          <p:nvPr/>
        </p:nvSpPr>
        <p:spPr>
          <a:xfrm>
            <a:off x="64008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Diabetes is far easier to manage when it is caught early.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model that flags high-risk patients can tell doctors who to test first.</a:t>
            </a:r>
            <a:endParaRPr lang="en-US" sz="1600" dirty="0"/>
          </a:p>
        </p:txBody>
      </p:sp>
      <p:sp>
        <p:nvSpPr>
          <p:cNvPr id="7" name="Objective card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bjective bar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Objective head"/>
          <p:cNvSpPr txBox="1"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objective</a:t>
            </a:r>
            <a:endParaRPr lang="en-US" sz="1900" dirty="0"/>
          </a:p>
        </p:txBody>
      </p:sp>
      <p:sp>
        <p:nvSpPr>
          <p:cNvPr id="10" name="Objective body"/>
          <p:cNvSpPr txBox="1"/>
          <p:nvPr/>
        </p:nvSpPr>
        <p:spPr>
          <a:xfrm>
            <a:off x="493776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Predict whether a patient has diabetes (0 or 1) from 8 medical measurements.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three models and find which setup works best on a small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Dataset: PIMA Indians Diabetes</a:t>
            </a:r>
            <a:endParaRPr lang="en-US" sz="2600" dirty="0"/>
          </a:p>
        </p:txBody>
      </p:sp>
      <p:sp>
        <p:nvSpPr>
          <p:cNvPr id="3" name="Rows num"/>
          <p:cNvSpPr txBox="1"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767</a:t>
            </a:r>
            <a:endParaRPr lang="en-US" sz="4000" dirty="0"/>
          </a:p>
        </p:txBody>
      </p:sp>
      <p:sp>
        <p:nvSpPr>
          <p:cNvPr id="4" name="Rows label"/>
          <p:cNvSpPr txBox="1"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patients loaded</a:t>
            </a:r>
            <a:endParaRPr lang="en-US" sz="1300" dirty="0"/>
          </a:p>
        </p:txBody>
      </p:sp>
      <p:sp>
        <p:nvSpPr>
          <p:cNvPr id="5" name="Features num"/>
          <p:cNvSpPr txBox="1"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8</a:t>
            </a:r>
            <a:endParaRPr lang="en-US" sz="4000" dirty="0"/>
          </a:p>
        </p:txBody>
      </p:sp>
      <p:sp>
        <p:nvSpPr>
          <p:cNvPr id="6" name="Features label"/>
          <p:cNvSpPr txBox="1"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input features</a:t>
            </a:r>
            <a:endParaRPr lang="en-US" sz="1300" dirty="0"/>
          </a:p>
        </p:txBody>
      </p:sp>
      <p:sp>
        <p:nvSpPr>
          <p:cNvPr id="7" name="Balance num"/>
          <p:cNvSpPr txBox="1"/>
          <p:nvPr/>
        </p:nvSpPr>
        <p:spPr>
          <a:xfrm>
            <a:off x="61264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500 : 267</a:t>
            </a:r>
            <a:endParaRPr lang="en-US" sz="4000" dirty="0"/>
          </a:p>
        </p:txBody>
      </p:sp>
      <p:sp>
        <p:nvSpPr>
          <p:cNvPr id="8" name="Balance label"/>
          <p:cNvSpPr txBox="1"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diabetes : diabetes</a:t>
            </a:r>
            <a:endParaRPr lang="en-US" sz="1300" dirty="0"/>
          </a:p>
        </p:txBody>
      </p:sp>
      <p:sp>
        <p:nvSpPr>
          <p:cNvPr id="9" name="Feature list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Features: Pregnancies, Glucose, BloodPressure, SkinThickness, Insulin, BMI, DiabetesPedigreeFunction, Age</a:t>
            </a:r>
            <a:endParaRPr lang="en-US" sz="1400" dirty="0"/>
          </a:p>
        </p:txBody>
      </p:sp>
      <p:sp>
        <p:nvSpPr>
          <p:cNvPr id="10" name="Target note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Target: Outcome (0 = no diabetes, 1 = diabetes). The classes are imbalanced, so accuracy alone can mislead.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Methodology</a:t>
            </a:r>
            <a:endParaRPr lang="en-US" sz="2600" dirty="0"/>
          </a:p>
        </p:txBody>
      </p:sp>
      <p:sp>
        <p:nvSpPr>
          <p:cNvPr id="3" name="Step 1 dot"/>
          <p:cNvSpPr/>
          <p:nvPr/>
        </p:nvSpPr>
        <p:spPr>
          <a:xfrm>
            <a:off x="96012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9601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1 title"/>
          <p:cNvSpPr txBox="1"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</a:t>
            </a:r>
            <a:endParaRPr lang="en-US" sz="1600" dirty="0"/>
          </a:p>
        </p:txBody>
      </p:sp>
      <p:sp>
        <p:nvSpPr>
          <p:cNvPr id="6" name="Step 1 text"/>
          <p:cNvSpPr txBox="1"/>
          <p:nvPr/>
        </p:nvSpPr>
        <p:spPr>
          <a:xfrm>
            <a:off x="457200" y="22402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 / 15 / 15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536 train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115 val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116 test</a:t>
            </a:r>
            <a:endParaRPr lang="en-US" sz="1400" dirty="0"/>
          </a:p>
        </p:txBody>
      </p:sp>
      <p:sp>
        <p:nvSpPr>
          <p:cNvPr id="7" name="Step 2 dot"/>
          <p:cNvSpPr/>
          <p:nvPr/>
        </p:nvSpPr>
        <p:spPr>
          <a:xfrm>
            <a:off x="2642616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2642616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 2 title"/>
          <p:cNvSpPr txBox="1"/>
          <p:nvPr/>
        </p:nvSpPr>
        <p:spPr>
          <a:xfrm>
            <a:off x="2139696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</a:t>
            </a:r>
            <a:endParaRPr lang="en-US" sz="1600" dirty="0"/>
          </a:p>
        </p:txBody>
      </p:sp>
      <p:sp>
        <p:nvSpPr>
          <p:cNvPr id="10" name="Step 2 text"/>
          <p:cNvSpPr txBox="1"/>
          <p:nvPr/>
        </p:nvSpPr>
        <p:spPr>
          <a:xfrm>
            <a:off x="2139696" y="22402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StandardScaler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on train only</a:t>
            </a:r>
            <a:endParaRPr lang="en-US" sz="1400" dirty="0"/>
          </a:p>
        </p:txBody>
      </p:sp>
      <p:sp>
        <p:nvSpPr>
          <p:cNvPr id="11" name="Step 3 dot"/>
          <p:cNvSpPr/>
          <p:nvPr/>
        </p:nvSpPr>
        <p:spPr>
          <a:xfrm>
            <a:off x="4325112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432511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tep 3 title"/>
          <p:cNvSpPr txBox="1"/>
          <p:nvPr/>
        </p:nvSpPr>
        <p:spPr>
          <a:xfrm>
            <a:off x="3822192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4" name="Step 3 text"/>
          <p:cNvSpPr txBox="1"/>
          <p:nvPr/>
        </p:nvSpPr>
        <p:spPr>
          <a:xfrm>
            <a:off x="3822192" y="22402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Adam optimizer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Early stopping</a:t>
            </a:r>
            <a:endParaRPr lang="en-US" sz="1400" dirty="0"/>
          </a:p>
        </p:txBody>
      </p:sp>
      <p:sp>
        <p:nvSpPr>
          <p:cNvPr id="15" name="Step 4 dot"/>
          <p:cNvSpPr/>
          <p:nvPr/>
        </p:nvSpPr>
        <p:spPr>
          <a:xfrm>
            <a:off x="6007608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600760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Step 4 title"/>
          <p:cNvSpPr txBox="1"/>
          <p:nvPr/>
        </p:nvSpPr>
        <p:spPr>
          <a:xfrm>
            <a:off x="5504688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Tune</a:t>
            </a:r>
            <a:endParaRPr lang="en-US" sz="1600" dirty="0"/>
          </a:p>
        </p:txBody>
      </p:sp>
      <p:sp>
        <p:nvSpPr>
          <p:cNvPr id="18" name="Step 4 text"/>
          <p:cNvSpPr txBox="1"/>
          <p:nvPr/>
        </p:nvSpPr>
        <p:spPr>
          <a:xfrm>
            <a:off x="5504688" y="22402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Hyperparameters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Threshold</a:t>
            </a:r>
            <a:endParaRPr lang="en-US" sz="1400" dirty="0"/>
          </a:p>
        </p:txBody>
      </p:sp>
      <p:sp>
        <p:nvSpPr>
          <p:cNvPr id="19" name="Step 5 dot"/>
          <p:cNvSpPr/>
          <p:nvPr/>
        </p:nvSpPr>
        <p:spPr>
          <a:xfrm>
            <a:off x="7690104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7690104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Step 5 title"/>
          <p:cNvSpPr txBox="1"/>
          <p:nvPr/>
        </p:nvSpPr>
        <p:spPr>
          <a:xfrm>
            <a:off x="7187184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</a:t>
            </a:r>
            <a:endParaRPr lang="en-US" sz="1600" dirty="0"/>
          </a:p>
        </p:txBody>
      </p:sp>
      <p:sp>
        <p:nvSpPr>
          <p:cNvPr id="22" name="Step 5 text"/>
          <p:cNvSpPr txBox="1"/>
          <p:nvPr/>
        </p:nvSpPr>
        <p:spPr>
          <a:xfrm>
            <a:off x="7187184" y="22402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set only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Acc, Recall, F1, AUC</a:t>
            </a:r>
            <a:endParaRPr lang="en-US" sz="1400" dirty="0"/>
          </a:p>
        </p:txBody>
      </p:sp>
      <p:sp>
        <p:nvSpPr>
          <p:cNvPr id="23" name="Leakage not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Scaling is fitted on the training data only, so no test information leaks into training.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Three Models Compared</a:t>
            </a:r>
            <a:endParaRPr lang="en-US" sz="2600" dirty="0"/>
          </a:p>
        </p:txBody>
      </p:sp>
      <p:sp>
        <p:nvSpPr>
          <p:cNvPr id="3" name="Baseline card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seline bar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seline head"/>
          <p:cNvSpPr txBox="1"/>
          <p:nvPr/>
        </p:nvSpPr>
        <p:spPr>
          <a:xfrm>
            <a:off x="64008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Baseline NN</a:t>
            </a:r>
            <a:endParaRPr lang="en-US" sz="1900" dirty="0"/>
          </a:p>
        </p:txBody>
      </p:sp>
      <p:sp>
        <p:nvSpPr>
          <p:cNvPr id="6" name="Baseline body"/>
          <p:cNvSpPr txBox="1"/>
          <p:nvPr/>
        </p:nvSpPr>
        <p:spPr>
          <a:xfrm>
            <a:off x="640080" y="1600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hidden layer (16 units)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161 parameters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simple model to beat.</a:t>
            </a:r>
            <a:endParaRPr lang="en-US" sz="1600" dirty="0"/>
          </a:p>
        </p:txBody>
      </p:sp>
      <p:sp>
        <p:nvSpPr>
          <p:cNvPr id="7" name="Proposed card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posed bar"/>
          <p:cNvSpPr/>
          <p:nvPr/>
        </p:nvSpPr>
        <p:spPr>
          <a:xfrm>
            <a:off x="3246120" y="1097280"/>
            <a:ext cx="73152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posed head"/>
          <p:cNvSpPr txBox="1"/>
          <p:nvPr/>
        </p:nvSpPr>
        <p:spPr>
          <a:xfrm>
            <a:off x="342900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Proposed NN</a:t>
            </a:r>
            <a:endParaRPr lang="en-US" sz="1900" dirty="0"/>
          </a:p>
        </p:txBody>
      </p:sp>
      <p:sp>
        <p:nvSpPr>
          <p:cNvPr id="10" name="Proposed body"/>
          <p:cNvSpPr txBox="1"/>
          <p:nvPr/>
        </p:nvSpPr>
        <p:spPr>
          <a:xfrm>
            <a:off x="3429000" y="1600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hidden layers (32, 16)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Dropout 0.2 + L2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833 parameters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Regularized to reduce overfitting.</a:t>
            </a:r>
            <a:endParaRPr lang="en-US" sz="1600" dirty="0"/>
          </a:p>
        </p:txBody>
      </p:sp>
      <p:sp>
        <p:nvSpPr>
          <p:cNvPr id="11" name="Transformer card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ransformer bar"/>
          <p:cNvSpPr/>
          <p:nvPr/>
        </p:nvSpPr>
        <p:spPr>
          <a:xfrm>
            <a:off x="6035040" y="1097280"/>
            <a:ext cx="73152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ransformer head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Transformer</a:t>
            </a:r>
            <a:endParaRPr lang="en-US" sz="1900" dirty="0"/>
          </a:p>
        </p:txBody>
      </p:sp>
      <p:sp>
        <p:nvSpPr>
          <p:cNvPr id="14" name="Transformer body"/>
          <p:cNvSpPr txBox="1"/>
          <p:nvPr/>
        </p:nvSpPr>
        <p:spPr>
          <a:xfrm>
            <a:off x="6217920" y="160020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feature is a token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2-head attention + feed-forward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2,545 parameters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Learns how features relate.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Results on the Test Set (116 patients)</a:t>
            </a:r>
            <a:endParaRPr lang="en-US" sz="2600" dirty="0"/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Baseline NN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73.28%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Proposed NN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72.41%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Proposed, threshold 0.28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73.28%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0.582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0.674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0.823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Final NN (BatchNorm)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72.41%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Transformer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69.83%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0.741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sults note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The Transformer scored lowest. With 8 features and 536 training rows, attention has little to learn.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Key Insight: Threshold Tuning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reshold card"/>
          <p:cNvSpPr/>
          <p:nvPr/>
        </p:nvSpPr>
        <p:spPr>
          <a:xfrm>
            <a:off x="5120640" y="1097280"/>
            <a:ext cx="35661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reshold bar"/>
          <p:cNvSpPr/>
          <p:nvPr/>
        </p:nvSpPr>
        <p:spPr>
          <a:xfrm>
            <a:off x="5120640" y="1097280"/>
            <a:ext cx="73152" cy="3200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hreshold head"/>
          <p:cNvSpPr txBox="1"/>
          <p:nvPr/>
        </p:nvSpPr>
        <p:spPr>
          <a:xfrm>
            <a:off x="530352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changed</a:t>
            </a:r>
            <a:endParaRPr lang="en-US" sz="1900" dirty="0"/>
          </a:p>
        </p:txBody>
      </p:sp>
      <p:sp>
        <p:nvSpPr>
          <p:cNvPr id="7" name="Threshold body"/>
          <p:cNvSpPr txBox="1"/>
          <p:nvPr/>
        </p:nvSpPr>
        <p:spPr>
          <a:xfrm>
            <a:off x="5303520" y="160020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Default cut-off 0.5 caught 21 of 40 diabetic patients.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cut-off of 0.28, chosen on the validation set, catches 32 of 40.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Cost: about 10 more false alarms (specificity 69.7%).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Hyperparameters and Ablation</a:t>
            </a:r>
            <a:endParaRPr lang="en-US" sz="2600" dirty="0"/>
          </a:p>
        </p:txBody>
      </p:sp>
      <p:sp>
        <p:nvSpPr>
          <p:cNvPr id="3" name="HP heading"/>
          <p:cNvSpPr txBox="1"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Hyperparameter comparison</a:t>
            </a:r>
            <a:endParaRPr lang="en-US" sz="1400" dirty="0"/>
          </a:p>
        </p:txBody>
      </p:sp>
      <p:graphicFrame>
        <p:nvGraphicFramePr>
          <p:cNvPr id="9" name="Hyper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9728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Units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Dropout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74.14%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69.83%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71.55%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75.00%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0.823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71.55%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Ablation heading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Ablation study</a:t>
            </a:r>
            <a:endParaRPr lang="en-US" sz="1400" dirty="0"/>
          </a:p>
        </p:txBody>
      </p:sp>
      <p:graphicFrame>
        <p:nvGraphicFramePr>
          <p:cNvPr id="17" name="Abl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73.28%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L2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77.59%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0.845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Dropout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71.55%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L2 + Dropout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72.41%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Variance not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Results shifted between runs (L2 only scored 68.10% in an earlier run), so treat gaps of 2-3% as noise.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Limitations and Future Work</a:t>
            </a:r>
            <a:endParaRPr lang="en-US" sz="2600" dirty="0"/>
          </a:p>
        </p:txBody>
      </p:sp>
      <p:sp>
        <p:nvSpPr>
          <p:cNvPr id="3" name="Limits card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s bar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Limits head"/>
          <p:cNvSpPr txBox="1"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Limitations</a:t>
            </a:r>
            <a:endParaRPr lang="en-US" sz="1900" dirty="0"/>
          </a:p>
        </p:txBody>
      </p:sp>
      <p:sp>
        <p:nvSpPr>
          <p:cNvPr id="6" name="Limits body"/>
          <p:cNvSpPr txBox="1"/>
          <p:nvPr/>
        </p:nvSpPr>
        <p:spPr>
          <a:xfrm>
            <a:off x="64008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First CSV row read as header (767 of 768 used)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Zeros in Glucose, BP, BMI not treated as missing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Small dataset, one train/val/test split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Transformer bug found and fixed (untrained model was used for predictions)</a:t>
            </a:r>
            <a:endParaRPr lang="en-US" sz="1600" dirty="0"/>
          </a:p>
        </p:txBody>
      </p:sp>
      <p:sp>
        <p:nvSpPr>
          <p:cNvPr id="7" name="Future card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uture bar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uture head"/>
          <p:cNvSpPr txBox="1"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Future work</a:t>
            </a:r>
            <a:endParaRPr lang="en-US" sz="1900" dirty="0"/>
          </a:p>
        </p:txBody>
      </p:sp>
      <p:sp>
        <p:nvSpPr>
          <p:cNvPr id="10" name="Future body"/>
          <p:cNvSpPr txBox="1"/>
          <p:nvPr/>
        </p:nvSpPr>
        <p:spPr>
          <a:xfrm>
            <a:off x="493776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Treat impossible zeros as missing values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cross-validation instead of one split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tree models such as XGBoost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 on a larger dataset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 and Repository</a:t>
            </a:r>
            <a:endParaRPr lang="en-US" sz="2600" dirty="0"/>
          </a:p>
        </p:txBody>
      </p:sp>
      <p:sp>
        <p:nvSpPr>
          <p:cNvPr id="3" name="Demo card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mo bar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Demo head"/>
          <p:cNvSpPr txBox="1"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Live demo</a:t>
            </a:r>
            <a:endParaRPr lang="en-US" sz="1900" dirty="0"/>
          </a:p>
        </p:txBody>
      </p:sp>
      <p:sp>
        <p:nvSpPr>
          <p:cNvPr id="6" name="Demo body"/>
          <p:cNvSpPr txBox="1"/>
          <p:nvPr/>
        </p:nvSpPr>
        <p:spPr>
          <a:xfrm>
            <a:off x="64008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notebooks/dlproject.ipynb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 the results table, the ROC curve and the confusion matrix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the threshold cell</a:t>
            </a:r>
            <a:endParaRPr lang="en-US" sz="1600" dirty="0"/>
          </a:p>
        </p:txBody>
      </p:sp>
      <p:sp>
        <p:nvSpPr>
          <p:cNvPr id="7" name="Repo card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po bar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Repo head"/>
          <p:cNvSpPr txBox="1"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GitHub</a:t>
            </a:r>
            <a:endParaRPr lang="en-US" sz="1900" dirty="0"/>
          </a:p>
        </p:txBody>
      </p:sp>
      <p:sp>
        <p:nvSpPr>
          <p:cNvPr id="10" name="Repo body"/>
          <p:cNvSpPr txBox="1"/>
          <p:nvPr/>
        </p:nvSpPr>
        <p:spPr>
          <a:xfrm>
            <a:off x="493776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github.com/ritwikaslathia/MUJ-DS-2430010401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Source code, README, results, screenshots, installation guide and this presentation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Thank you.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betesDL">
  <a:themeElements>
    <a:clrScheme name="DiabetesDL">
      <a:dk1>
        <a:srgbClr val="1F2A37"/>
      </a:dk1>
      <a:lt1>
        <a:srgbClr val="FFFFFF"/>
      </a:lt1>
      <a:dk2>
        <a:srgbClr val="0B3B3A"/>
      </a:dk2>
      <a:lt2>
        <a:srgbClr val="F1F5F9"/>
      </a:lt2>
      <a:accent1>
        <a:srgbClr val="0F766E"/>
      </a:accent1>
      <a:accent2>
        <a:srgbClr val="F59E0B"/>
      </a:accent2>
      <a:accent3>
        <a:srgbClr val="2563EB"/>
      </a:accent3>
      <a:accent4>
        <a:srgbClr val="DC2626"/>
      </a:accent4>
      <a:accent5>
        <a:srgbClr val="64748B"/>
      </a:accent5>
      <a:accent6>
        <a:srgbClr val="16A34A"/>
      </a:accent6>
      <a:hlink>
        <a:srgbClr val="2563EB"/>
      </a:hlink>
      <a:folHlink>
        <a:srgbClr val="64748B"/>
      </a:folHlink>
    </a:clrScheme>
    <a:fontScheme name="DiabetesD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Deep Learning</dc:title>
  <dc:subject>PptxGenJS Presentation</dc:subject>
  <dc:creator>Ritwika Slathia</dc:creator>
  <cp:lastModifiedBy>Ritwika Slathia</cp:lastModifiedBy>
  <cp:revision>1</cp:revision>
  <dcterms:created xsi:type="dcterms:W3CDTF">2026-10-15T14:13:11Z</dcterms:created>
  <dcterms:modified xsi:type="dcterms:W3CDTF">2026-10-15T14:13:11Z</dcterms:modified>
</cp:coreProperties>
</file>